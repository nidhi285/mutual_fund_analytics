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3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C85AF5-E3CE-402B-985A-ECBB5681DD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3CFA6CD-4833-4F98-8283-7A6AB9A50A4A}">
      <dgm:prSet phldrT="[Text]" phldr="0"/>
      <dgm:spPr/>
      <dgm:t>
        <a:bodyPr/>
        <a:lstStyle/>
        <a:p>
          <a:r>
            <a:rPr lang="en-IN"/>
            <a:t>Data Collection</a:t>
          </a:r>
        </a:p>
      </dgm:t>
    </dgm:pt>
    <dgm:pt modelId="{16CBE6E9-7C20-4540-BE14-3F7EE44D0A83}" type="parTrans" cxnId="{7277F03A-9D68-4287-BD1C-8B3485373043}">
      <dgm:prSet/>
      <dgm:spPr/>
      <dgm:t>
        <a:bodyPr/>
        <a:lstStyle/>
        <a:p>
          <a:endParaRPr lang="en-IN"/>
        </a:p>
      </dgm:t>
    </dgm:pt>
    <dgm:pt modelId="{0DB2ECEC-66B6-4DEE-AB2E-289A63AB5A02}" type="sibTrans" cxnId="{7277F03A-9D68-4287-BD1C-8B3485373043}">
      <dgm:prSet/>
      <dgm:spPr/>
      <dgm:t>
        <a:bodyPr/>
        <a:lstStyle/>
        <a:p>
          <a:endParaRPr lang="en-IN"/>
        </a:p>
      </dgm:t>
    </dgm:pt>
    <dgm:pt modelId="{21EBB6AA-F7A9-4134-8288-8EB879CBBF83}">
      <dgm:prSet phldrT="[Text]" phldr="0"/>
      <dgm:spPr/>
      <dgm:t>
        <a:bodyPr/>
        <a:lstStyle/>
        <a:p>
          <a:r>
            <a:rPr lang="en-IN"/>
            <a:t>PostgreSql Database</a:t>
          </a:r>
        </a:p>
      </dgm:t>
    </dgm:pt>
    <dgm:pt modelId="{A531115F-F46E-4482-8893-ED0EE6615D9A}" type="parTrans" cxnId="{14F1A893-3E35-44B2-A908-546D847BE283}">
      <dgm:prSet/>
      <dgm:spPr/>
      <dgm:t>
        <a:bodyPr/>
        <a:lstStyle/>
        <a:p>
          <a:endParaRPr lang="en-IN"/>
        </a:p>
      </dgm:t>
    </dgm:pt>
    <dgm:pt modelId="{EAF580F8-E2C1-4B0D-862F-8536A78A0B61}" type="sibTrans" cxnId="{14F1A893-3E35-44B2-A908-546D847BE283}">
      <dgm:prSet/>
      <dgm:spPr/>
      <dgm:t>
        <a:bodyPr/>
        <a:lstStyle/>
        <a:p>
          <a:endParaRPr lang="en-IN"/>
        </a:p>
      </dgm:t>
    </dgm:pt>
    <dgm:pt modelId="{A5EEEBC6-E151-43F1-B9B4-A3A59B5A4792}">
      <dgm:prSet phldrT="[Text]" phldr="0"/>
      <dgm:spPr/>
      <dgm:t>
        <a:bodyPr/>
        <a:lstStyle/>
        <a:p>
          <a:r>
            <a:rPr lang="en-IN"/>
            <a:t>Data Cleaning &amp; EDA</a:t>
          </a:r>
        </a:p>
      </dgm:t>
    </dgm:pt>
    <dgm:pt modelId="{6F089826-75C9-4B7B-877C-2466B5707F65}" type="parTrans" cxnId="{9C9539B5-A865-44A4-83BB-6F752B334AC7}">
      <dgm:prSet/>
      <dgm:spPr/>
      <dgm:t>
        <a:bodyPr/>
        <a:lstStyle/>
        <a:p>
          <a:endParaRPr lang="en-IN"/>
        </a:p>
      </dgm:t>
    </dgm:pt>
    <dgm:pt modelId="{9F1D289B-FC86-4B30-BDBC-38DF318741B2}" type="sibTrans" cxnId="{9C9539B5-A865-44A4-83BB-6F752B334AC7}">
      <dgm:prSet/>
      <dgm:spPr/>
      <dgm:t>
        <a:bodyPr/>
        <a:lstStyle/>
        <a:p>
          <a:endParaRPr lang="en-IN"/>
        </a:p>
      </dgm:t>
    </dgm:pt>
    <dgm:pt modelId="{ED4E7907-0C58-4EE6-9B83-9972481644CE}">
      <dgm:prSet phldrT="[Text]" phldr="0"/>
      <dgm:spPr/>
      <dgm:t>
        <a:bodyPr/>
        <a:lstStyle/>
        <a:p>
          <a:r>
            <a:rPr lang="en-IN"/>
            <a:t>Performance Analytics</a:t>
          </a:r>
        </a:p>
      </dgm:t>
    </dgm:pt>
    <dgm:pt modelId="{6EDC3BB1-7E0B-4F9C-A4C1-FA7E7FA7DF62}" type="parTrans" cxnId="{6F751D98-07E8-4E2A-86B7-94B2A78225EB}">
      <dgm:prSet/>
      <dgm:spPr/>
      <dgm:t>
        <a:bodyPr/>
        <a:lstStyle/>
        <a:p>
          <a:endParaRPr lang="en-IN"/>
        </a:p>
      </dgm:t>
    </dgm:pt>
    <dgm:pt modelId="{C80EDC9E-9C8F-494B-AA40-506905F210A0}" type="sibTrans" cxnId="{6F751D98-07E8-4E2A-86B7-94B2A78225EB}">
      <dgm:prSet/>
      <dgm:spPr/>
      <dgm:t>
        <a:bodyPr/>
        <a:lstStyle/>
        <a:p>
          <a:endParaRPr lang="en-IN"/>
        </a:p>
      </dgm:t>
    </dgm:pt>
    <dgm:pt modelId="{E17B9FEC-7617-47B2-9B18-847B787DE6CA}">
      <dgm:prSet phldrT="[Text]" phldr="0"/>
      <dgm:spPr/>
      <dgm:t>
        <a:bodyPr/>
        <a:lstStyle/>
        <a:p>
          <a:r>
            <a:rPr lang="en-IN" dirty="0"/>
            <a:t>Risk Analysis (</a:t>
          </a:r>
          <a:r>
            <a:rPr lang="en-IN" dirty="0" err="1"/>
            <a:t>VaR</a:t>
          </a:r>
          <a:r>
            <a:rPr lang="en-IN" dirty="0"/>
            <a:t> &amp; CVaR)</a:t>
          </a:r>
        </a:p>
      </dgm:t>
    </dgm:pt>
    <dgm:pt modelId="{AD8D5CD1-09CC-4E4A-8970-A18737BB2C85}" type="parTrans" cxnId="{F6DDE54F-A8CC-45A3-89A5-B702F9A76D9D}">
      <dgm:prSet/>
      <dgm:spPr/>
      <dgm:t>
        <a:bodyPr/>
        <a:lstStyle/>
        <a:p>
          <a:endParaRPr lang="en-IN"/>
        </a:p>
      </dgm:t>
    </dgm:pt>
    <dgm:pt modelId="{CCD6964C-D5A0-437C-8B3F-4D46E3D786AA}" type="sibTrans" cxnId="{F6DDE54F-A8CC-45A3-89A5-B702F9A76D9D}">
      <dgm:prSet/>
      <dgm:spPr/>
      <dgm:t>
        <a:bodyPr/>
        <a:lstStyle/>
        <a:p>
          <a:endParaRPr lang="en-IN"/>
        </a:p>
      </dgm:t>
    </dgm:pt>
    <dgm:pt modelId="{AF08E1D6-4843-4E2D-B2AA-8DCCBDD43325}">
      <dgm:prSet phldrT="[Text]" phldr="0"/>
      <dgm:spPr/>
      <dgm:t>
        <a:bodyPr/>
        <a:lstStyle/>
        <a:p>
          <a:r>
            <a:rPr lang="en-IN"/>
            <a:t>Tableau Dashboard</a:t>
          </a:r>
          <a:endParaRPr lang="en-IN" dirty="0"/>
        </a:p>
      </dgm:t>
    </dgm:pt>
    <dgm:pt modelId="{7D68D2F5-BA78-4E86-8794-9A95B003CC7C}" type="parTrans" cxnId="{DD0DDF85-612C-4747-9E92-A73610CD7DE4}">
      <dgm:prSet/>
      <dgm:spPr/>
      <dgm:t>
        <a:bodyPr/>
        <a:lstStyle/>
        <a:p>
          <a:endParaRPr lang="en-IN"/>
        </a:p>
      </dgm:t>
    </dgm:pt>
    <dgm:pt modelId="{A29691E6-E96E-4CBC-9852-8E9E871CBFDA}" type="sibTrans" cxnId="{DD0DDF85-612C-4747-9E92-A73610CD7DE4}">
      <dgm:prSet/>
      <dgm:spPr/>
      <dgm:t>
        <a:bodyPr/>
        <a:lstStyle/>
        <a:p>
          <a:endParaRPr lang="en-IN"/>
        </a:p>
      </dgm:t>
    </dgm:pt>
    <dgm:pt modelId="{DE2945D4-2546-4CC9-97D4-819FE849C3A3}" type="pres">
      <dgm:prSet presAssocID="{A6C85AF5-E3CE-402B-985A-ECBB5681DD0F}" presName="Name0" presStyleCnt="0">
        <dgm:presLayoutVars>
          <dgm:dir/>
          <dgm:resizeHandles val="exact"/>
        </dgm:presLayoutVars>
      </dgm:prSet>
      <dgm:spPr/>
    </dgm:pt>
    <dgm:pt modelId="{9ABA774A-279A-402B-BFE1-6791F14187FA}" type="pres">
      <dgm:prSet presAssocID="{53CFA6CD-4833-4F98-8283-7A6AB9A50A4A}" presName="node" presStyleLbl="node1" presStyleIdx="0" presStyleCnt="6">
        <dgm:presLayoutVars>
          <dgm:bulletEnabled val="1"/>
        </dgm:presLayoutVars>
      </dgm:prSet>
      <dgm:spPr/>
    </dgm:pt>
    <dgm:pt modelId="{9A642862-3342-487D-8164-99F187E43A8D}" type="pres">
      <dgm:prSet presAssocID="{0DB2ECEC-66B6-4DEE-AB2E-289A63AB5A02}" presName="sibTrans" presStyleLbl="sibTrans2D1" presStyleIdx="0" presStyleCnt="5"/>
      <dgm:spPr/>
    </dgm:pt>
    <dgm:pt modelId="{6841592C-18F6-46DD-8DC8-AA244E335076}" type="pres">
      <dgm:prSet presAssocID="{0DB2ECEC-66B6-4DEE-AB2E-289A63AB5A02}" presName="connectorText" presStyleLbl="sibTrans2D1" presStyleIdx="0" presStyleCnt="5"/>
      <dgm:spPr/>
    </dgm:pt>
    <dgm:pt modelId="{21029158-0EA4-4D5F-BC01-06864C9BF3EB}" type="pres">
      <dgm:prSet presAssocID="{21EBB6AA-F7A9-4134-8288-8EB879CBBF83}" presName="node" presStyleLbl="node1" presStyleIdx="1" presStyleCnt="6">
        <dgm:presLayoutVars>
          <dgm:bulletEnabled val="1"/>
        </dgm:presLayoutVars>
      </dgm:prSet>
      <dgm:spPr/>
    </dgm:pt>
    <dgm:pt modelId="{1DD2065F-5F2E-4F7D-9A0A-E2CDBD598406}" type="pres">
      <dgm:prSet presAssocID="{EAF580F8-E2C1-4B0D-862F-8536A78A0B61}" presName="sibTrans" presStyleLbl="sibTrans2D1" presStyleIdx="1" presStyleCnt="5"/>
      <dgm:spPr/>
    </dgm:pt>
    <dgm:pt modelId="{7E8C9670-0168-4C54-962F-E8BDAA94ACD6}" type="pres">
      <dgm:prSet presAssocID="{EAF580F8-E2C1-4B0D-862F-8536A78A0B61}" presName="connectorText" presStyleLbl="sibTrans2D1" presStyleIdx="1" presStyleCnt="5"/>
      <dgm:spPr/>
    </dgm:pt>
    <dgm:pt modelId="{129EDA00-F10A-4F71-9D8F-6D8ACB60DBD4}" type="pres">
      <dgm:prSet presAssocID="{A5EEEBC6-E151-43F1-B9B4-A3A59B5A4792}" presName="node" presStyleLbl="node1" presStyleIdx="2" presStyleCnt="6">
        <dgm:presLayoutVars>
          <dgm:bulletEnabled val="1"/>
        </dgm:presLayoutVars>
      </dgm:prSet>
      <dgm:spPr/>
    </dgm:pt>
    <dgm:pt modelId="{737D13C0-55AB-4C5D-9A73-BF1B56A52622}" type="pres">
      <dgm:prSet presAssocID="{9F1D289B-FC86-4B30-BDBC-38DF318741B2}" presName="sibTrans" presStyleLbl="sibTrans2D1" presStyleIdx="2" presStyleCnt="5"/>
      <dgm:spPr/>
    </dgm:pt>
    <dgm:pt modelId="{1C0B06CE-5675-45A1-9602-B8BEF16DA28F}" type="pres">
      <dgm:prSet presAssocID="{9F1D289B-FC86-4B30-BDBC-38DF318741B2}" presName="connectorText" presStyleLbl="sibTrans2D1" presStyleIdx="2" presStyleCnt="5"/>
      <dgm:spPr/>
    </dgm:pt>
    <dgm:pt modelId="{36A7CDFB-A42D-44C0-A7D6-A8628E838846}" type="pres">
      <dgm:prSet presAssocID="{ED4E7907-0C58-4EE6-9B83-9972481644CE}" presName="node" presStyleLbl="node1" presStyleIdx="3" presStyleCnt="6">
        <dgm:presLayoutVars>
          <dgm:bulletEnabled val="1"/>
        </dgm:presLayoutVars>
      </dgm:prSet>
      <dgm:spPr/>
    </dgm:pt>
    <dgm:pt modelId="{69560C87-66D1-44E1-99B8-C0877513E0FE}" type="pres">
      <dgm:prSet presAssocID="{C80EDC9E-9C8F-494B-AA40-506905F210A0}" presName="sibTrans" presStyleLbl="sibTrans2D1" presStyleIdx="3" presStyleCnt="5"/>
      <dgm:spPr/>
    </dgm:pt>
    <dgm:pt modelId="{F9B4A192-E1BE-4532-BA9E-9C17BCA6F35C}" type="pres">
      <dgm:prSet presAssocID="{C80EDC9E-9C8F-494B-AA40-506905F210A0}" presName="connectorText" presStyleLbl="sibTrans2D1" presStyleIdx="3" presStyleCnt="5"/>
      <dgm:spPr/>
    </dgm:pt>
    <dgm:pt modelId="{DFD0EA29-460F-4CAE-9727-E30BD2424D26}" type="pres">
      <dgm:prSet presAssocID="{E17B9FEC-7617-47B2-9B18-847B787DE6CA}" presName="node" presStyleLbl="node1" presStyleIdx="4" presStyleCnt="6">
        <dgm:presLayoutVars>
          <dgm:bulletEnabled val="1"/>
        </dgm:presLayoutVars>
      </dgm:prSet>
      <dgm:spPr/>
    </dgm:pt>
    <dgm:pt modelId="{37035DB7-2327-4F0E-9636-4C2A0C78DB7C}" type="pres">
      <dgm:prSet presAssocID="{CCD6964C-D5A0-437C-8B3F-4D46E3D786AA}" presName="sibTrans" presStyleLbl="sibTrans2D1" presStyleIdx="4" presStyleCnt="5"/>
      <dgm:spPr/>
    </dgm:pt>
    <dgm:pt modelId="{A88672AE-1FE4-4F37-84D5-01115B9A488F}" type="pres">
      <dgm:prSet presAssocID="{CCD6964C-D5A0-437C-8B3F-4D46E3D786AA}" presName="connectorText" presStyleLbl="sibTrans2D1" presStyleIdx="4" presStyleCnt="5"/>
      <dgm:spPr/>
    </dgm:pt>
    <dgm:pt modelId="{590D35F6-FCF5-4D12-BD64-1AC8B368DBA0}" type="pres">
      <dgm:prSet presAssocID="{AF08E1D6-4843-4E2D-B2AA-8DCCBDD43325}" presName="node" presStyleLbl="node1" presStyleIdx="5" presStyleCnt="6">
        <dgm:presLayoutVars>
          <dgm:bulletEnabled val="1"/>
        </dgm:presLayoutVars>
      </dgm:prSet>
      <dgm:spPr/>
    </dgm:pt>
  </dgm:ptLst>
  <dgm:cxnLst>
    <dgm:cxn modelId="{7277F03A-9D68-4287-BD1C-8B3485373043}" srcId="{A6C85AF5-E3CE-402B-985A-ECBB5681DD0F}" destId="{53CFA6CD-4833-4F98-8283-7A6AB9A50A4A}" srcOrd="0" destOrd="0" parTransId="{16CBE6E9-7C20-4540-BE14-3F7EE44D0A83}" sibTransId="{0DB2ECEC-66B6-4DEE-AB2E-289A63AB5A02}"/>
    <dgm:cxn modelId="{D4E4E15C-2A3B-4681-99DF-4FCA1B606C52}" type="presOf" srcId="{EAF580F8-E2C1-4B0D-862F-8536A78A0B61}" destId="{7E8C9670-0168-4C54-962F-E8BDAA94ACD6}" srcOrd="1" destOrd="0" presId="urn:microsoft.com/office/officeart/2005/8/layout/process1"/>
    <dgm:cxn modelId="{F10C2B61-BCDB-4177-85B3-99BE04113B00}" type="presOf" srcId="{C80EDC9E-9C8F-494B-AA40-506905F210A0}" destId="{F9B4A192-E1BE-4532-BA9E-9C17BCA6F35C}" srcOrd="1" destOrd="0" presId="urn:microsoft.com/office/officeart/2005/8/layout/process1"/>
    <dgm:cxn modelId="{A68D3F44-190D-482D-96F1-D3A2F89BF9B0}" type="presOf" srcId="{AF08E1D6-4843-4E2D-B2AA-8DCCBDD43325}" destId="{590D35F6-FCF5-4D12-BD64-1AC8B368DBA0}" srcOrd="0" destOrd="0" presId="urn:microsoft.com/office/officeart/2005/8/layout/process1"/>
    <dgm:cxn modelId="{F6DDE54F-A8CC-45A3-89A5-B702F9A76D9D}" srcId="{A6C85AF5-E3CE-402B-985A-ECBB5681DD0F}" destId="{E17B9FEC-7617-47B2-9B18-847B787DE6CA}" srcOrd="4" destOrd="0" parTransId="{AD8D5CD1-09CC-4E4A-8970-A18737BB2C85}" sibTransId="{CCD6964C-D5A0-437C-8B3F-4D46E3D786AA}"/>
    <dgm:cxn modelId="{FCCDBB74-3D49-416A-9EEA-900B37F4F18A}" type="presOf" srcId="{E17B9FEC-7617-47B2-9B18-847B787DE6CA}" destId="{DFD0EA29-460F-4CAE-9727-E30BD2424D26}" srcOrd="0" destOrd="0" presId="urn:microsoft.com/office/officeart/2005/8/layout/process1"/>
    <dgm:cxn modelId="{B14FCF80-634D-4828-BA39-22D422D1D93D}" type="presOf" srcId="{EAF580F8-E2C1-4B0D-862F-8536A78A0B61}" destId="{1DD2065F-5F2E-4F7D-9A0A-E2CDBD598406}" srcOrd="0" destOrd="0" presId="urn:microsoft.com/office/officeart/2005/8/layout/process1"/>
    <dgm:cxn modelId="{E19A7582-B192-4083-8A98-4CDAFF800174}" type="presOf" srcId="{CCD6964C-D5A0-437C-8B3F-4D46E3D786AA}" destId="{A88672AE-1FE4-4F37-84D5-01115B9A488F}" srcOrd="1" destOrd="0" presId="urn:microsoft.com/office/officeart/2005/8/layout/process1"/>
    <dgm:cxn modelId="{DD0DDF85-612C-4747-9E92-A73610CD7DE4}" srcId="{A6C85AF5-E3CE-402B-985A-ECBB5681DD0F}" destId="{AF08E1D6-4843-4E2D-B2AA-8DCCBDD43325}" srcOrd="5" destOrd="0" parTransId="{7D68D2F5-BA78-4E86-8794-9A95B003CC7C}" sibTransId="{A29691E6-E96E-4CBC-9852-8E9E871CBFDA}"/>
    <dgm:cxn modelId="{14F1A893-3E35-44B2-A908-546D847BE283}" srcId="{A6C85AF5-E3CE-402B-985A-ECBB5681DD0F}" destId="{21EBB6AA-F7A9-4134-8288-8EB879CBBF83}" srcOrd="1" destOrd="0" parTransId="{A531115F-F46E-4482-8893-ED0EE6615D9A}" sibTransId="{EAF580F8-E2C1-4B0D-862F-8536A78A0B61}"/>
    <dgm:cxn modelId="{305D7C95-97CF-41FA-B1A0-1A29C4B09209}" type="presOf" srcId="{A6C85AF5-E3CE-402B-985A-ECBB5681DD0F}" destId="{DE2945D4-2546-4CC9-97D4-819FE849C3A3}" srcOrd="0" destOrd="0" presId="urn:microsoft.com/office/officeart/2005/8/layout/process1"/>
    <dgm:cxn modelId="{6F751D98-07E8-4E2A-86B7-94B2A78225EB}" srcId="{A6C85AF5-E3CE-402B-985A-ECBB5681DD0F}" destId="{ED4E7907-0C58-4EE6-9B83-9972481644CE}" srcOrd="3" destOrd="0" parTransId="{6EDC3BB1-7E0B-4F9C-A4C1-FA7E7FA7DF62}" sibTransId="{C80EDC9E-9C8F-494B-AA40-506905F210A0}"/>
    <dgm:cxn modelId="{4F1C2AA1-B29F-4C19-AAF1-2A38A05421E1}" type="presOf" srcId="{53CFA6CD-4833-4F98-8283-7A6AB9A50A4A}" destId="{9ABA774A-279A-402B-BFE1-6791F14187FA}" srcOrd="0" destOrd="0" presId="urn:microsoft.com/office/officeart/2005/8/layout/process1"/>
    <dgm:cxn modelId="{9D3B11A5-4B05-40CE-BE47-B52D14EACCE4}" type="presOf" srcId="{9F1D289B-FC86-4B30-BDBC-38DF318741B2}" destId="{1C0B06CE-5675-45A1-9602-B8BEF16DA28F}" srcOrd="1" destOrd="0" presId="urn:microsoft.com/office/officeart/2005/8/layout/process1"/>
    <dgm:cxn modelId="{9C9539B5-A865-44A4-83BB-6F752B334AC7}" srcId="{A6C85AF5-E3CE-402B-985A-ECBB5681DD0F}" destId="{A5EEEBC6-E151-43F1-B9B4-A3A59B5A4792}" srcOrd="2" destOrd="0" parTransId="{6F089826-75C9-4B7B-877C-2466B5707F65}" sibTransId="{9F1D289B-FC86-4B30-BDBC-38DF318741B2}"/>
    <dgm:cxn modelId="{0C7044B7-9F56-4649-93A5-D6A2D05BB479}" type="presOf" srcId="{C80EDC9E-9C8F-494B-AA40-506905F210A0}" destId="{69560C87-66D1-44E1-99B8-C0877513E0FE}" srcOrd="0" destOrd="0" presId="urn:microsoft.com/office/officeart/2005/8/layout/process1"/>
    <dgm:cxn modelId="{309A39B9-CF59-44AB-ABF5-CF2B6F2099E0}" type="presOf" srcId="{A5EEEBC6-E151-43F1-B9B4-A3A59B5A4792}" destId="{129EDA00-F10A-4F71-9D8F-6D8ACB60DBD4}" srcOrd="0" destOrd="0" presId="urn:microsoft.com/office/officeart/2005/8/layout/process1"/>
    <dgm:cxn modelId="{DC2CF6BA-FFD6-4F8C-92F7-F4551521CB15}" type="presOf" srcId="{ED4E7907-0C58-4EE6-9B83-9972481644CE}" destId="{36A7CDFB-A42D-44C0-A7D6-A8628E838846}" srcOrd="0" destOrd="0" presId="urn:microsoft.com/office/officeart/2005/8/layout/process1"/>
    <dgm:cxn modelId="{3FFE7DBF-AA90-418A-A033-A88DE961B28B}" type="presOf" srcId="{CCD6964C-D5A0-437C-8B3F-4D46E3D786AA}" destId="{37035DB7-2327-4F0E-9636-4C2A0C78DB7C}" srcOrd="0" destOrd="0" presId="urn:microsoft.com/office/officeart/2005/8/layout/process1"/>
    <dgm:cxn modelId="{D16FF6EB-230B-4281-9FA2-BC852B0CD52B}" type="presOf" srcId="{0DB2ECEC-66B6-4DEE-AB2E-289A63AB5A02}" destId="{9A642862-3342-487D-8164-99F187E43A8D}" srcOrd="0" destOrd="0" presId="urn:microsoft.com/office/officeart/2005/8/layout/process1"/>
    <dgm:cxn modelId="{93B319EF-84AA-4EB9-8476-EC01B10D5F20}" type="presOf" srcId="{21EBB6AA-F7A9-4134-8288-8EB879CBBF83}" destId="{21029158-0EA4-4D5F-BC01-06864C9BF3EB}" srcOrd="0" destOrd="0" presId="urn:microsoft.com/office/officeart/2005/8/layout/process1"/>
    <dgm:cxn modelId="{BACD13F1-8865-4235-B9C4-1CBF3D0730E3}" type="presOf" srcId="{9F1D289B-FC86-4B30-BDBC-38DF318741B2}" destId="{737D13C0-55AB-4C5D-9A73-BF1B56A52622}" srcOrd="0" destOrd="0" presId="urn:microsoft.com/office/officeart/2005/8/layout/process1"/>
    <dgm:cxn modelId="{14CE47FD-9BF0-427E-A3EB-2553C456D6C3}" type="presOf" srcId="{0DB2ECEC-66B6-4DEE-AB2E-289A63AB5A02}" destId="{6841592C-18F6-46DD-8DC8-AA244E335076}" srcOrd="1" destOrd="0" presId="urn:microsoft.com/office/officeart/2005/8/layout/process1"/>
    <dgm:cxn modelId="{9B72E89D-65C5-43E5-BA54-A7689FAEB758}" type="presParOf" srcId="{DE2945D4-2546-4CC9-97D4-819FE849C3A3}" destId="{9ABA774A-279A-402B-BFE1-6791F14187FA}" srcOrd="0" destOrd="0" presId="urn:microsoft.com/office/officeart/2005/8/layout/process1"/>
    <dgm:cxn modelId="{C8AB20E4-14AC-4239-ADD4-F0781E68ADBE}" type="presParOf" srcId="{DE2945D4-2546-4CC9-97D4-819FE849C3A3}" destId="{9A642862-3342-487D-8164-99F187E43A8D}" srcOrd="1" destOrd="0" presId="urn:microsoft.com/office/officeart/2005/8/layout/process1"/>
    <dgm:cxn modelId="{0DD8CA42-0C41-47C3-9855-8EDEE0F46D24}" type="presParOf" srcId="{9A642862-3342-487D-8164-99F187E43A8D}" destId="{6841592C-18F6-46DD-8DC8-AA244E335076}" srcOrd="0" destOrd="0" presId="urn:microsoft.com/office/officeart/2005/8/layout/process1"/>
    <dgm:cxn modelId="{6D260EC5-8745-4EA5-A913-2985C510C648}" type="presParOf" srcId="{DE2945D4-2546-4CC9-97D4-819FE849C3A3}" destId="{21029158-0EA4-4D5F-BC01-06864C9BF3EB}" srcOrd="2" destOrd="0" presId="urn:microsoft.com/office/officeart/2005/8/layout/process1"/>
    <dgm:cxn modelId="{1C0B6931-9EBC-41BC-B60B-87642D7008C1}" type="presParOf" srcId="{DE2945D4-2546-4CC9-97D4-819FE849C3A3}" destId="{1DD2065F-5F2E-4F7D-9A0A-E2CDBD598406}" srcOrd="3" destOrd="0" presId="urn:microsoft.com/office/officeart/2005/8/layout/process1"/>
    <dgm:cxn modelId="{BE68A211-7289-4ACE-804B-62D1322839A8}" type="presParOf" srcId="{1DD2065F-5F2E-4F7D-9A0A-E2CDBD598406}" destId="{7E8C9670-0168-4C54-962F-E8BDAA94ACD6}" srcOrd="0" destOrd="0" presId="urn:microsoft.com/office/officeart/2005/8/layout/process1"/>
    <dgm:cxn modelId="{53222D24-F0E2-4115-9325-F52C23FA4E7A}" type="presParOf" srcId="{DE2945D4-2546-4CC9-97D4-819FE849C3A3}" destId="{129EDA00-F10A-4F71-9D8F-6D8ACB60DBD4}" srcOrd="4" destOrd="0" presId="urn:microsoft.com/office/officeart/2005/8/layout/process1"/>
    <dgm:cxn modelId="{BEE76D1D-4D49-4C83-8FCC-3079CC111A31}" type="presParOf" srcId="{DE2945D4-2546-4CC9-97D4-819FE849C3A3}" destId="{737D13C0-55AB-4C5D-9A73-BF1B56A52622}" srcOrd="5" destOrd="0" presId="urn:microsoft.com/office/officeart/2005/8/layout/process1"/>
    <dgm:cxn modelId="{58B01765-C15D-4ADA-8E91-33DFDA5D248D}" type="presParOf" srcId="{737D13C0-55AB-4C5D-9A73-BF1B56A52622}" destId="{1C0B06CE-5675-45A1-9602-B8BEF16DA28F}" srcOrd="0" destOrd="0" presId="urn:microsoft.com/office/officeart/2005/8/layout/process1"/>
    <dgm:cxn modelId="{C94B419D-9509-454F-8F48-A957E6E59FB7}" type="presParOf" srcId="{DE2945D4-2546-4CC9-97D4-819FE849C3A3}" destId="{36A7CDFB-A42D-44C0-A7D6-A8628E838846}" srcOrd="6" destOrd="0" presId="urn:microsoft.com/office/officeart/2005/8/layout/process1"/>
    <dgm:cxn modelId="{3A89ECB5-7C43-4F96-B393-72742190954B}" type="presParOf" srcId="{DE2945D4-2546-4CC9-97D4-819FE849C3A3}" destId="{69560C87-66D1-44E1-99B8-C0877513E0FE}" srcOrd="7" destOrd="0" presId="urn:microsoft.com/office/officeart/2005/8/layout/process1"/>
    <dgm:cxn modelId="{1A11915B-884D-49D3-9B3A-8638FCB380E4}" type="presParOf" srcId="{69560C87-66D1-44E1-99B8-C0877513E0FE}" destId="{F9B4A192-E1BE-4532-BA9E-9C17BCA6F35C}" srcOrd="0" destOrd="0" presId="urn:microsoft.com/office/officeart/2005/8/layout/process1"/>
    <dgm:cxn modelId="{9EEE4EE2-32F6-4C5F-A21F-73507788DBC8}" type="presParOf" srcId="{DE2945D4-2546-4CC9-97D4-819FE849C3A3}" destId="{DFD0EA29-460F-4CAE-9727-E30BD2424D26}" srcOrd="8" destOrd="0" presId="urn:microsoft.com/office/officeart/2005/8/layout/process1"/>
    <dgm:cxn modelId="{FEC3EA4B-860F-4E4D-84B3-E5E7844C9070}" type="presParOf" srcId="{DE2945D4-2546-4CC9-97D4-819FE849C3A3}" destId="{37035DB7-2327-4F0E-9636-4C2A0C78DB7C}" srcOrd="9" destOrd="0" presId="urn:microsoft.com/office/officeart/2005/8/layout/process1"/>
    <dgm:cxn modelId="{8F9ADE76-F8F3-43BD-953A-C775BF00B256}" type="presParOf" srcId="{37035DB7-2327-4F0E-9636-4C2A0C78DB7C}" destId="{A88672AE-1FE4-4F37-84D5-01115B9A488F}" srcOrd="0" destOrd="0" presId="urn:microsoft.com/office/officeart/2005/8/layout/process1"/>
    <dgm:cxn modelId="{1AECFCF3-2513-4063-8153-1A1B157EBDF2}" type="presParOf" srcId="{DE2945D4-2546-4CC9-97D4-819FE849C3A3}" destId="{590D35F6-FCF5-4D12-BD64-1AC8B368DBA0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A774A-279A-402B-BFE1-6791F14187FA}">
      <dsp:nvSpPr>
        <dsp:cNvPr id="0" name=""/>
        <dsp:cNvSpPr/>
      </dsp:nvSpPr>
      <dsp:spPr>
        <a:xfrm>
          <a:off x="0" y="1747313"/>
          <a:ext cx="1363918" cy="856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Data Collection</a:t>
          </a:r>
        </a:p>
      </dsp:txBody>
      <dsp:txXfrm>
        <a:off x="25092" y="1772405"/>
        <a:ext cx="1313734" cy="806527"/>
      </dsp:txXfrm>
    </dsp:sp>
    <dsp:sp modelId="{9A642862-3342-487D-8164-99F187E43A8D}">
      <dsp:nvSpPr>
        <dsp:cNvPr id="0" name=""/>
        <dsp:cNvSpPr/>
      </dsp:nvSpPr>
      <dsp:spPr>
        <a:xfrm>
          <a:off x="1500310" y="2006543"/>
          <a:ext cx="289150" cy="338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1500310" y="2074193"/>
        <a:ext cx="202405" cy="202951"/>
      </dsp:txXfrm>
    </dsp:sp>
    <dsp:sp modelId="{21029158-0EA4-4D5F-BC01-06864C9BF3EB}">
      <dsp:nvSpPr>
        <dsp:cNvPr id="0" name=""/>
        <dsp:cNvSpPr/>
      </dsp:nvSpPr>
      <dsp:spPr>
        <a:xfrm>
          <a:off x="1909485" y="1747313"/>
          <a:ext cx="1363918" cy="856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PostgreSql Database</a:t>
          </a:r>
        </a:p>
      </dsp:txBody>
      <dsp:txXfrm>
        <a:off x="1934577" y="1772405"/>
        <a:ext cx="1313734" cy="806527"/>
      </dsp:txXfrm>
    </dsp:sp>
    <dsp:sp modelId="{1DD2065F-5F2E-4F7D-9A0A-E2CDBD598406}">
      <dsp:nvSpPr>
        <dsp:cNvPr id="0" name=""/>
        <dsp:cNvSpPr/>
      </dsp:nvSpPr>
      <dsp:spPr>
        <a:xfrm>
          <a:off x="3409796" y="2006543"/>
          <a:ext cx="289150" cy="338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3409796" y="2074193"/>
        <a:ext cx="202405" cy="202951"/>
      </dsp:txXfrm>
    </dsp:sp>
    <dsp:sp modelId="{129EDA00-F10A-4F71-9D8F-6D8ACB60DBD4}">
      <dsp:nvSpPr>
        <dsp:cNvPr id="0" name=""/>
        <dsp:cNvSpPr/>
      </dsp:nvSpPr>
      <dsp:spPr>
        <a:xfrm>
          <a:off x="3818971" y="1747313"/>
          <a:ext cx="1363918" cy="856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Data Cleaning &amp; EDA</a:t>
          </a:r>
        </a:p>
      </dsp:txBody>
      <dsp:txXfrm>
        <a:off x="3844063" y="1772405"/>
        <a:ext cx="1313734" cy="806527"/>
      </dsp:txXfrm>
    </dsp:sp>
    <dsp:sp modelId="{737D13C0-55AB-4C5D-9A73-BF1B56A52622}">
      <dsp:nvSpPr>
        <dsp:cNvPr id="0" name=""/>
        <dsp:cNvSpPr/>
      </dsp:nvSpPr>
      <dsp:spPr>
        <a:xfrm>
          <a:off x="5319282" y="2006543"/>
          <a:ext cx="289150" cy="338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5319282" y="2074193"/>
        <a:ext cx="202405" cy="202951"/>
      </dsp:txXfrm>
    </dsp:sp>
    <dsp:sp modelId="{36A7CDFB-A42D-44C0-A7D6-A8628E838846}">
      <dsp:nvSpPr>
        <dsp:cNvPr id="0" name=""/>
        <dsp:cNvSpPr/>
      </dsp:nvSpPr>
      <dsp:spPr>
        <a:xfrm>
          <a:off x="5728457" y="1747313"/>
          <a:ext cx="1363918" cy="856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Performance Analytics</a:t>
          </a:r>
        </a:p>
      </dsp:txBody>
      <dsp:txXfrm>
        <a:off x="5753549" y="1772405"/>
        <a:ext cx="1313734" cy="806527"/>
      </dsp:txXfrm>
    </dsp:sp>
    <dsp:sp modelId="{69560C87-66D1-44E1-99B8-C0877513E0FE}">
      <dsp:nvSpPr>
        <dsp:cNvPr id="0" name=""/>
        <dsp:cNvSpPr/>
      </dsp:nvSpPr>
      <dsp:spPr>
        <a:xfrm>
          <a:off x="7228768" y="2006543"/>
          <a:ext cx="289150" cy="338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7228768" y="2074193"/>
        <a:ext cx="202405" cy="202951"/>
      </dsp:txXfrm>
    </dsp:sp>
    <dsp:sp modelId="{DFD0EA29-460F-4CAE-9727-E30BD2424D26}">
      <dsp:nvSpPr>
        <dsp:cNvPr id="0" name=""/>
        <dsp:cNvSpPr/>
      </dsp:nvSpPr>
      <dsp:spPr>
        <a:xfrm>
          <a:off x="7637943" y="1747313"/>
          <a:ext cx="1363918" cy="856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Risk Analysis (</a:t>
          </a:r>
          <a:r>
            <a:rPr lang="en-IN" sz="1600" kern="1200" dirty="0" err="1"/>
            <a:t>VaR</a:t>
          </a:r>
          <a:r>
            <a:rPr lang="en-IN" sz="1600" kern="1200" dirty="0"/>
            <a:t> &amp; CVaR)</a:t>
          </a:r>
        </a:p>
      </dsp:txBody>
      <dsp:txXfrm>
        <a:off x="7663035" y="1772405"/>
        <a:ext cx="1313734" cy="806527"/>
      </dsp:txXfrm>
    </dsp:sp>
    <dsp:sp modelId="{37035DB7-2327-4F0E-9636-4C2A0C78DB7C}">
      <dsp:nvSpPr>
        <dsp:cNvPr id="0" name=""/>
        <dsp:cNvSpPr/>
      </dsp:nvSpPr>
      <dsp:spPr>
        <a:xfrm>
          <a:off x="9138253" y="2006543"/>
          <a:ext cx="289150" cy="338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9138253" y="2074193"/>
        <a:ext cx="202405" cy="202951"/>
      </dsp:txXfrm>
    </dsp:sp>
    <dsp:sp modelId="{590D35F6-FCF5-4D12-BD64-1AC8B368DBA0}">
      <dsp:nvSpPr>
        <dsp:cNvPr id="0" name=""/>
        <dsp:cNvSpPr/>
      </dsp:nvSpPr>
      <dsp:spPr>
        <a:xfrm>
          <a:off x="9547429" y="1747313"/>
          <a:ext cx="1363918" cy="856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Tableau Dashboard</a:t>
          </a:r>
          <a:endParaRPr lang="en-IN" sz="1600" kern="1200" dirty="0"/>
        </a:p>
      </dsp:txBody>
      <dsp:txXfrm>
        <a:off x="9572521" y="1772405"/>
        <a:ext cx="1313734" cy="8065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ADC3-06D1-09DC-C233-B99FF7E6D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80651-42C4-B317-DB65-2401B6BA4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6243B-7C9D-AA91-BE16-A7AE56AA0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5EED0-6CE8-DBF2-259A-9DA745D3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2424-2059-063E-2C09-E76625F9A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52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DF77-2B8B-F358-BEAC-5DE3E631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E1629-E882-97FA-CD12-49941926C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C2AA7-6EEA-E995-F374-BF0B9931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A4D34-C751-07DA-B716-CDBD3D6C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62BE7-1E5E-13D3-8FEC-AAB736BC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50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2B57-680A-EAC6-3409-09FE1BCD0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8FAEE-6354-AAA8-AF75-11FA16FA2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0781E-B7A6-22A9-58EE-A91296BC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039E9-80A3-FA18-C9F4-6FE152051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7ABB8-1641-C9A1-B2E7-8943CD4C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8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95B3-09EF-D34E-8F26-3D8CC9E9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72C6-A548-DF0E-C711-55BDE85E3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C98E3-19A6-040A-69D1-F7C78F322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9582B-2077-0013-215B-B604AFC5A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B01D7-4136-685E-7BA4-5E0087B7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1900E-8DDE-CBC3-3B24-7E4DDBBC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38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B6D8-60ED-A954-5D59-018C1508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DD6EC-2997-BFDC-EB0F-BE55E520F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F700A-BDAE-398D-CF21-B67D3CFD8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10548-95A0-6604-D8D9-D415A7BCD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19319-2831-B065-552F-94655DA66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571E9-3C76-5AF7-B41E-AA499246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59C36-8D19-719B-8AC7-428711ED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74547-3449-B69F-040F-3A685C84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615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9C97-C359-4E31-9BE9-5726C763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B0191-791C-D9FE-60B7-D4E31392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52AF42-9F40-8B60-2061-BA831B59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79DBF-8A48-F35D-CCDA-83599E43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75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6621E-98B2-6A62-52BA-B4517989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BFE92-090A-37DF-5794-44D9EA62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17A9F-4E35-028E-A5E3-58A76EBB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FA40-D50D-A943-BC46-4C810663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872C-0922-35EE-994E-665AAD48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1FEBB-554E-5422-2FC6-0C1C0DA06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92198-8E4C-A95A-CEC2-F796C9D4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E146F-7DB4-613E-A4EE-91837DB1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5759A-D2D7-97C8-DF12-3350A88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95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5367-8C34-CEDF-3C2F-700D89EB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0762C-E51B-B613-C769-2352BC2AD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A41A0-37E6-19CE-349E-E5B84B22E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11284-C5EC-D0F2-0304-7ABA935A9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718CF-0F35-DCA5-6C8B-AB3041E6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98588-E04A-5DC7-B4DD-F34AAB5F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90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1616-751C-0DE2-06AA-50D95317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349FD-F184-5AFC-86CF-F97F979AB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7CD0-806D-3CEC-173C-AA2E7453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88DF-4EED-1888-6BCE-FBFFD93D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29610-CF7D-6536-5B00-D010829C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8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2514FD-F621-F331-559A-8A7B9EE25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FC5E9-E893-49C3-9454-70163F22F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48FA1-4AA2-4156-F031-F0466D08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AD188-80C8-D96F-991B-229F8D545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7B5AB-1460-C465-003B-263C55B3D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69D49-6EF1-B5DB-937F-806B7768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CF55C-A053-871A-AF24-4038E6BC7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63D0B-2922-3EC0-A5F7-EFA122C35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9B4E0-D8EB-4870-9B33-5D07B29D2D6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0E2B0-9BD4-D4D2-FA6F-A0AB7AE67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B5C20-FCE6-A89C-C444-3863CA0AF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850F3-4FFB-48C8-8E3F-576E71013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00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A22D-A141-B364-BB65-D4BED45D0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IN" sz="6600" b="1" dirty="0"/>
            </a:br>
            <a:endParaRPr lang="en-IN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C41DB-9934-3547-2848-73A6131F2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1484"/>
            <a:ext cx="8878529" cy="3586316"/>
          </a:xfrm>
        </p:spPr>
        <p:txBody>
          <a:bodyPr/>
          <a:lstStyle/>
          <a:p>
            <a:r>
              <a:rPr lang="en-IN" sz="3600" b="1" dirty="0"/>
              <a:t>MUTUAL FUND ANALYTICS</a:t>
            </a:r>
          </a:p>
          <a:p>
            <a:r>
              <a:rPr lang="en-IN" sz="3200" dirty="0"/>
              <a:t>Transforming Raw Financial Data into Investment Insights</a:t>
            </a:r>
          </a:p>
          <a:p>
            <a:r>
              <a:rPr lang="en-IN" sz="3200" dirty="0"/>
              <a:t>Kumari Nidhi Pandey</a:t>
            </a:r>
          </a:p>
          <a:p>
            <a:r>
              <a:rPr lang="en-IN" sz="3200" dirty="0" err="1"/>
              <a:t>Bluestock</a:t>
            </a:r>
            <a:r>
              <a:rPr lang="en-IN" sz="3200" dirty="0"/>
              <a:t> Fintech Internship</a:t>
            </a:r>
          </a:p>
          <a:p>
            <a:r>
              <a:rPr lang="en-IN" sz="3200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265257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8681-1104-8CC6-4C5C-24C2BA4D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284E9-FE7C-C896-ACE5-FE6E2720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4"/>
            <a:ext cx="10515600" cy="4611329"/>
          </a:xfrm>
        </p:spPr>
        <p:txBody>
          <a:bodyPr/>
          <a:lstStyle/>
          <a:p>
            <a:r>
              <a:rPr lang="en-US" dirty="0"/>
              <a:t> Thousands of mutual fund schemes are available for investors </a:t>
            </a:r>
          </a:p>
          <a:p>
            <a:r>
              <a:rPr lang="en-US" dirty="0"/>
              <a:t> Comparing performance across funds is difficult</a:t>
            </a:r>
          </a:p>
          <a:p>
            <a:r>
              <a:rPr lang="en-US" dirty="0"/>
              <a:t> Risk assessment requires advanced financial metrics</a:t>
            </a:r>
          </a:p>
          <a:p>
            <a:r>
              <a:rPr lang="en-US" dirty="0"/>
              <a:t>Raw NAV data is large and difficult to analyze manually</a:t>
            </a:r>
          </a:p>
          <a:p>
            <a:r>
              <a:rPr lang="en-US" dirty="0"/>
              <a:t>Investors need clear insights for better decision-making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Solution:</a:t>
            </a:r>
          </a:p>
          <a:p>
            <a:r>
              <a:rPr lang="en-US" dirty="0"/>
              <a:t>Developed a Mutual Fund Analytics Platform using Python, PostgreSQL, and Tableau to evaluate performance, benchmark returns, and investment risk.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79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93A6-F1DE-5659-B187-B1C0ABC1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Project  </a:t>
            </a:r>
            <a:r>
              <a:rPr lang="en-IN" sz="4000" dirty="0" err="1"/>
              <a:t>Methdology</a:t>
            </a:r>
            <a:r>
              <a:rPr lang="en-IN" sz="4000" dirty="0"/>
              <a:t> &amp;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88B25D-FBD4-D97D-BDDD-ADF20D6C2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575926"/>
              </p:ext>
            </p:extLst>
          </p:nvPr>
        </p:nvGraphicFramePr>
        <p:xfrm>
          <a:off x="838200" y="1825625"/>
          <a:ext cx="1091134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6792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06E-8A4E-747A-6157-2A187682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Collection &amp;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B810-97B5-EC75-334F-19AE405D3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500820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Data Source</a:t>
            </a:r>
          </a:p>
          <a:p>
            <a:r>
              <a:rPr lang="en-IN" dirty="0"/>
              <a:t> Historical NAV Data </a:t>
            </a:r>
          </a:p>
          <a:p>
            <a:r>
              <a:rPr lang="en-IN" dirty="0"/>
              <a:t> Multiple Fund Categories</a:t>
            </a:r>
          </a:p>
          <a:p>
            <a:r>
              <a:rPr lang="en-IN" dirty="0"/>
              <a:t> PostgreSQL Database</a:t>
            </a:r>
          </a:p>
          <a:p>
            <a:pPr marL="0" indent="0">
              <a:buNone/>
            </a:pPr>
            <a:r>
              <a:rPr lang="en-IN" b="1" dirty="0"/>
              <a:t>Dataset Attributes</a:t>
            </a:r>
          </a:p>
          <a:p>
            <a:r>
              <a:rPr lang="en-IN" dirty="0"/>
              <a:t>Fund Name</a:t>
            </a:r>
          </a:p>
          <a:p>
            <a:r>
              <a:rPr lang="en-IN" dirty="0"/>
              <a:t> Scheme Category</a:t>
            </a:r>
          </a:p>
          <a:p>
            <a:r>
              <a:rPr lang="en-IN" dirty="0"/>
              <a:t> NAV Value</a:t>
            </a:r>
          </a:p>
          <a:p>
            <a:r>
              <a:rPr lang="en-IN" dirty="0"/>
              <a:t> Date</a:t>
            </a:r>
          </a:p>
          <a:p>
            <a:r>
              <a:rPr lang="en-IN" dirty="0"/>
              <a:t>Benchmark </a:t>
            </a:r>
          </a:p>
          <a:p>
            <a:pPr marL="0" indent="0">
              <a:buNone/>
            </a:pPr>
            <a:r>
              <a:rPr lang="en-IN" sz="2900" b="1" dirty="0"/>
              <a:t>Project Objective</a:t>
            </a:r>
          </a:p>
          <a:p>
            <a:r>
              <a:rPr lang="en-IN" dirty="0"/>
              <a:t> Performance Analysis</a:t>
            </a:r>
          </a:p>
          <a:p>
            <a:r>
              <a:rPr lang="en-IN" dirty="0"/>
              <a:t> Benchmarks Comparison</a:t>
            </a:r>
          </a:p>
          <a:p>
            <a:r>
              <a:rPr lang="en-IN" dirty="0"/>
              <a:t> Risk Assessment</a:t>
            </a:r>
          </a:p>
          <a:p>
            <a:r>
              <a:rPr lang="en-IN" dirty="0"/>
              <a:t>Actionable Insights</a:t>
            </a: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29025611-ABD3-5FCF-84A7-B7DE4BCAA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0" y="1828800"/>
            <a:ext cx="5348747" cy="41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9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42BB-11C1-341B-83EA-1B059D35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Cleaning &amp;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5A0C4-B082-1D1C-E384-76E4E3767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3" y="157981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 Cleaning</a:t>
            </a:r>
          </a:p>
          <a:p>
            <a:r>
              <a:rPr lang="en-IN" dirty="0"/>
              <a:t>Removed missing values</a:t>
            </a:r>
          </a:p>
          <a:p>
            <a:r>
              <a:rPr lang="en-IN" dirty="0"/>
              <a:t>Eliminated duplicate records</a:t>
            </a:r>
          </a:p>
          <a:p>
            <a:r>
              <a:rPr lang="en-IN" dirty="0"/>
              <a:t>Standardized date formats</a:t>
            </a:r>
          </a:p>
          <a:p>
            <a:r>
              <a:rPr lang="en-IN" dirty="0"/>
              <a:t>Validated NAV records</a:t>
            </a:r>
          </a:p>
          <a:p>
            <a:pPr marL="0" indent="0">
              <a:buNone/>
            </a:pPr>
            <a:r>
              <a:rPr lang="en-IN" b="1" dirty="0"/>
              <a:t>EDA</a:t>
            </a:r>
          </a:p>
          <a:p>
            <a:r>
              <a:rPr lang="en-IN" dirty="0"/>
              <a:t>Fund return distribution</a:t>
            </a:r>
          </a:p>
          <a:p>
            <a:r>
              <a:rPr lang="en-IN" dirty="0"/>
              <a:t>Category-wise performance analysis</a:t>
            </a:r>
          </a:p>
          <a:p>
            <a:r>
              <a:rPr lang="en-IN" dirty="0"/>
              <a:t>NAV trend visualization</a:t>
            </a:r>
          </a:p>
          <a:p>
            <a:r>
              <a:rPr lang="en-IN" dirty="0"/>
              <a:t>Correlation analysis</a:t>
            </a:r>
          </a:p>
        </p:txBody>
      </p:sp>
      <p:pic>
        <p:nvPicPr>
          <p:cNvPr id="5" name="Graphic 4" descr="Pie chart with solid fill">
            <a:extLst>
              <a:ext uri="{FF2B5EF4-FFF2-40B4-BE49-F238E27FC236}">
                <a16:creationId xmlns:a16="http://schemas.microsoft.com/office/drawing/2014/main" id="{3242DE26-B525-6973-5793-0E21B9F2F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5586" y="4254730"/>
            <a:ext cx="2979174" cy="1607599"/>
          </a:xfrm>
          <a:prstGeom prst="rect">
            <a:avLst/>
          </a:prstGeom>
        </p:spPr>
      </p:pic>
      <p:pic>
        <p:nvPicPr>
          <p:cNvPr id="7" name="Graphic 6" descr="Bar chart with solid fill">
            <a:extLst>
              <a:ext uri="{FF2B5EF4-FFF2-40B4-BE49-F238E27FC236}">
                <a16:creationId xmlns:a16="http://schemas.microsoft.com/office/drawing/2014/main" id="{209308E8-CDDC-C7E7-E648-1B0FE45E7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8219" y="1690688"/>
            <a:ext cx="3873909" cy="225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3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2677-1652-DC08-94F9-CAC5064A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Performance</a:t>
            </a:r>
            <a:r>
              <a:rPr lang="en-IN" b="1" dirty="0"/>
              <a:t> </a:t>
            </a:r>
            <a:r>
              <a:rPr lang="en-IN" dirty="0"/>
              <a:t>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E4F1A-96D0-E4C5-D345-A2EAD7CEE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690688"/>
            <a:ext cx="10724535" cy="45724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Alpha</a:t>
            </a:r>
          </a:p>
          <a:p>
            <a:r>
              <a:rPr lang="en-IN" dirty="0"/>
              <a:t>Measures excess return over benchmark</a:t>
            </a:r>
          </a:p>
          <a:p>
            <a:r>
              <a:rPr lang="en-IN" dirty="0"/>
              <a:t>Positive alpha indicates superior performance</a:t>
            </a:r>
          </a:p>
          <a:p>
            <a:pPr marL="0" indent="0">
              <a:buNone/>
            </a:pPr>
            <a:r>
              <a:rPr lang="en-IN" b="1" dirty="0"/>
              <a:t>Beta</a:t>
            </a:r>
          </a:p>
          <a:p>
            <a:r>
              <a:rPr lang="en-IN" dirty="0"/>
              <a:t>Measures volatility relative to market</a:t>
            </a:r>
          </a:p>
          <a:p>
            <a:r>
              <a:rPr lang="en-IN" dirty="0"/>
              <a:t>Beta &gt; 1 indicates higher risk</a:t>
            </a:r>
          </a:p>
          <a:p>
            <a:pPr marL="0" indent="0">
              <a:buNone/>
            </a:pPr>
            <a:r>
              <a:rPr lang="en-IN" b="1" dirty="0"/>
              <a:t>Sharpe Ratio</a:t>
            </a:r>
          </a:p>
          <a:p>
            <a:r>
              <a:rPr lang="en-IN" dirty="0"/>
              <a:t>Risk-adjusted return metric</a:t>
            </a:r>
          </a:p>
          <a:p>
            <a:r>
              <a:rPr lang="en-IN" dirty="0"/>
              <a:t>Higher value indicates better performance</a:t>
            </a:r>
          </a:p>
          <a:p>
            <a:pPr marL="0" indent="0">
              <a:buNone/>
            </a:pPr>
            <a:r>
              <a:rPr lang="en-IN" b="1" dirty="0"/>
              <a:t>Rolling Sharpe Ratio</a:t>
            </a:r>
          </a:p>
          <a:p>
            <a:r>
              <a:rPr lang="en-IN" dirty="0"/>
              <a:t>Evaluates consistency over time</a:t>
            </a:r>
          </a:p>
          <a:p>
            <a:r>
              <a:rPr lang="en-IN" dirty="0"/>
              <a:t>Tracks changing risk-return profile</a:t>
            </a:r>
          </a:p>
        </p:txBody>
      </p:sp>
      <p:pic>
        <p:nvPicPr>
          <p:cNvPr id="5" name="Graphic 4" descr="Upward trend with solid fill">
            <a:extLst>
              <a:ext uri="{FF2B5EF4-FFF2-40B4-BE49-F238E27FC236}">
                <a16:creationId xmlns:a16="http://schemas.microsoft.com/office/drawing/2014/main" id="{8AEE616A-B323-66EF-B383-E536B3D22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6542" y="1907457"/>
            <a:ext cx="3274142" cy="370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DB0A-183C-5E02-764F-7176BEE6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Risk Analysis (</a:t>
            </a:r>
            <a:r>
              <a:rPr lang="en-IN" dirty="0" err="1"/>
              <a:t>VaR</a:t>
            </a:r>
            <a:r>
              <a:rPr lang="en-IN" dirty="0"/>
              <a:t> &amp; CVaR)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2858D-C476-1817-25C1-9E9CE3289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err="1"/>
              <a:t>VaR</a:t>
            </a:r>
            <a:r>
              <a:rPr lang="en-IN" b="1" dirty="0"/>
              <a:t> (Value at Risk)</a:t>
            </a:r>
          </a:p>
          <a:p>
            <a:r>
              <a:rPr lang="en-IN" dirty="0"/>
              <a:t>Estimates maximum expected loss</a:t>
            </a:r>
          </a:p>
          <a:p>
            <a:r>
              <a:rPr lang="en-IN" dirty="0"/>
              <a:t>Measures downside risk at a confidence level</a:t>
            </a:r>
          </a:p>
          <a:p>
            <a:r>
              <a:rPr lang="en-IN" dirty="0"/>
              <a:t>Useful for portfolio risk assessment</a:t>
            </a:r>
          </a:p>
          <a:p>
            <a:pPr marL="0" indent="0">
              <a:buNone/>
            </a:pPr>
            <a:r>
              <a:rPr lang="en-IN" b="1" dirty="0"/>
              <a:t>CVaR (Conditional </a:t>
            </a:r>
            <a:r>
              <a:rPr lang="en-IN" b="1" dirty="0" err="1"/>
              <a:t>VaR</a:t>
            </a:r>
            <a:r>
              <a:rPr lang="en-IN" b="1" dirty="0"/>
              <a:t>)</a:t>
            </a:r>
          </a:p>
          <a:p>
            <a:r>
              <a:rPr lang="en-IN" dirty="0"/>
              <a:t>Calculates average loss beyond </a:t>
            </a:r>
            <a:r>
              <a:rPr lang="en-IN" dirty="0" err="1"/>
              <a:t>VaR</a:t>
            </a:r>
            <a:endParaRPr lang="en-IN" dirty="0"/>
          </a:p>
          <a:p>
            <a:r>
              <a:rPr lang="en-IN" dirty="0"/>
              <a:t>Captures extreme market conditions</a:t>
            </a:r>
          </a:p>
          <a:p>
            <a:r>
              <a:rPr lang="en-IN" dirty="0"/>
              <a:t>Provides deeper risk insights</a:t>
            </a:r>
          </a:p>
          <a:p>
            <a:pPr marL="0" indent="0">
              <a:buNone/>
            </a:pPr>
            <a:r>
              <a:rPr lang="en-IN" b="1" dirty="0"/>
              <a:t>Benefits</a:t>
            </a:r>
          </a:p>
          <a:p>
            <a:r>
              <a:rPr lang="en-IN" dirty="0"/>
              <a:t>Identifies high-risk funds</a:t>
            </a:r>
          </a:p>
          <a:p>
            <a:r>
              <a:rPr lang="en-IN" dirty="0"/>
              <a:t>Supports informed investment decisions</a:t>
            </a:r>
          </a:p>
        </p:txBody>
      </p:sp>
    </p:spTree>
    <p:extLst>
      <p:ext uri="{BB962C8B-B14F-4D97-AF65-F5344CB8AC3E}">
        <p14:creationId xmlns:p14="http://schemas.microsoft.com/office/powerpoint/2010/main" val="256061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14D3-42D4-1747-092E-35226CF2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Tableau Dashboard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21A20-B509-EC63-C528-50C89829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690688"/>
            <a:ext cx="10515600" cy="44862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Dashboard Features</a:t>
            </a:r>
          </a:p>
          <a:p>
            <a:r>
              <a:rPr lang="en-IN" dirty="0"/>
              <a:t>Interactive fund performance dashboard</a:t>
            </a:r>
          </a:p>
          <a:p>
            <a:r>
              <a:rPr lang="en-IN" dirty="0"/>
              <a:t>Benchmark comparison</a:t>
            </a:r>
          </a:p>
          <a:p>
            <a:r>
              <a:rPr lang="en-IN" dirty="0"/>
              <a:t>Risk analysis visualization</a:t>
            </a:r>
          </a:p>
          <a:p>
            <a:r>
              <a:rPr lang="en-IN" dirty="0"/>
              <a:t>Category-wise filtering</a:t>
            </a:r>
          </a:p>
          <a:p>
            <a:pPr marL="0" indent="0">
              <a:buNone/>
            </a:pPr>
            <a:r>
              <a:rPr lang="en-IN" b="1" dirty="0"/>
              <a:t>Visualizations</a:t>
            </a:r>
          </a:p>
          <a:p>
            <a:r>
              <a:rPr lang="en-IN" dirty="0"/>
              <a:t>NAV trend charts</a:t>
            </a:r>
          </a:p>
          <a:p>
            <a:r>
              <a:rPr lang="en-IN" dirty="0"/>
              <a:t>Performance comparison graphs</a:t>
            </a:r>
          </a:p>
          <a:p>
            <a:r>
              <a:rPr lang="en-IN" dirty="0"/>
              <a:t>Risk distribution plots</a:t>
            </a:r>
          </a:p>
          <a:p>
            <a:r>
              <a:rPr lang="en-IN" dirty="0"/>
              <a:t>Return analysis dashboard</a:t>
            </a:r>
          </a:p>
          <a:p>
            <a:pPr marL="0" indent="0">
              <a:buNone/>
            </a:pPr>
            <a:r>
              <a:rPr lang="en-IN" b="1" dirty="0"/>
              <a:t>Benefits</a:t>
            </a:r>
          </a:p>
          <a:p>
            <a:r>
              <a:rPr lang="en-IN" dirty="0"/>
              <a:t>Faster decision making</a:t>
            </a:r>
          </a:p>
          <a:p>
            <a:r>
              <a:rPr lang="en-IN" dirty="0"/>
              <a:t>Easy performance tracking</a:t>
            </a:r>
          </a:p>
          <a:p>
            <a:r>
              <a:rPr lang="en-IN" dirty="0"/>
              <a:t>User-friendly interface</a:t>
            </a:r>
          </a:p>
        </p:txBody>
      </p:sp>
      <p:pic>
        <p:nvPicPr>
          <p:cNvPr id="5" name="Graphic 4" descr="Monitor with solid fill">
            <a:extLst>
              <a:ext uri="{FF2B5EF4-FFF2-40B4-BE49-F238E27FC236}">
                <a16:creationId xmlns:a16="http://schemas.microsoft.com/office/drawing/2014/main" id="{36CBD996-CD48-08C5-8837-F4F845855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5432" y="2035277"/>
            <a:ext cx="3264310" cy="3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3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9F15-55F2-2E6E-3268-C43860A0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6C9C-76D1-657A-7B4F-EA2BCD3E9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1553497"/>
            <a:ext cx="11088329" cy="47588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Performance Insights</a:t>
            </a:r>
          </a:p>
          <a:p>
            <a:r>
              <a:rPr lang="en-IN" dirty="0"/>
              <a:t>Positive Alpha funds outperformed benchmarks.</a:t>
            </a:r>
          </a:p>
          <a:p>
            <a:r>
              <a:rPr lang="en-IN" dirty="0"/>
              <a:t>Higher Sharpe Ratio indicated better risk-adjusted returns.</a:t>
            </a:r>
          </a:p>
          <a:p>
            <a:r>
              <a:rPr lang="en-IN" dirty="0"/>
              <a:t>Low Beta funds showed more stable performance.</a:t>
            </a:r>
          </a:p>
          <a:p>
            <a:pPr marL="0" indent="0">
              <a:buNone/>
            </a:pPr>
            <a:r>
              <a:rPr lang="en-IN" b="1" dirty="0"/>
              <a:t>Risk Insights</a:t>
            </a:r>
          </a:p>
          <a:p>
            <a:r>
              <a:rPr lang="en-IN" dirty="0" err="1"/>
              <a:t>VaR</a:t>
            </a:r>
            <a:r>
              <a:rPr lang="en-IN" dirty="0"/>
              <a:t> estimated potential portfolio losses.</a:t>
            </a:r>
          </a:p>
          <a:p>
            <a:r>
              <a:rPr lang="en-IN" dirty="0"/>
              <a:t>CVaR captured extreme downside risk.</a:t>
            </a:r>
          </a:p>
          <a:p>
            <a:r>
              <a:rPr lang="en-IN" dirty="0"/>
              <a:t>High-risk funds exhibited greater volatility.</a:t>
            </a:r>
          </a:p>
          <a:p>
            <a:pPr marL="0" indent="0">
              <a:buNone/>
            </a:pPr>
            <a:r>
              <a:rPr lang="en-IN" b="1" dirty="0"/>
              <a:t>Overall Observation</a:t>
            </a:r>
          </a:p>
          <a:p>
            <a:r>
              <a:rPr lang="en-IN" dirty="0"/>
              <a:t>Combining return and risk metrics improves investment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677555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234C-B116-E7FB-2E96-6B9C889E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38D0F-9BAF-CD8C-3CF8-ABF68276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690688"/>
            <a:ext cx="10950677" cy="4486275"/>
          </a:xfrm>
        </p:spPr>
        <p:txBody>
          <a:bodyPr/>
          <a:lstStyle/>
          <a:p>
            <a:r>
              <a:rPr lang="en-US" dirty="0"/>
              <a:t>Developed an end-to-end Mutual Fund Analytics platform.</a:t>
            </a:r>
          </a:p>
          <a:p>
            <a:r>
              <a:rPr lang="en-US" dirty="0"/>
              <a:t>Automated data collection and processing using Python and PostgreSQL.</a:t>
            </a:r>
          </a:p>
          <a:p>
            <a:r>
              <a:rPr lang="en-US" dirty="0"/>
              <a:t>Evaluated fund performance using Alpha, Beta, and Sharpe Ratio.</a:t>
            </a:r>
          </a:p>
          <a:p>
            <a:r>
              <a:rPr lang="en-US" dirty="0"/>
              <a:t>Assessed investment risk using </a:t>
            </a:r>
            <a:r>
              <a:rPr lang="en-US" dirty="0" err="1"/>
              <a:t>VaR</a:t>
            </a:r>
            <a:r>
              <a:rPr lang="en-US" dirty="0"/>
              <a:t> and CVaR.</a:t>
            </a:r>
          </a:p>
          <a:p>
            <a:r>
              <a:rPr lang="en-US" dirty="0"/>
              <a:t>Created interactive Tableau dashboards for data visualization.</a:t>
            </a:r>
          </a:p>
          <a:p>
            <a:r>
              <a:rPr lang="en-US" dirty="0"/>
              <a:t>Enabled better investment insights through performance and risk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3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ABC6-7ECA-FFF5-D14F-901836FA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30823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0B819-C028-B6AC-FC07-8198F0520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   </a:t>
            </a:r>
          </a:p>
          <a:p>
            <a:pPr marL="0" indent="0" algn="ctr">
              <a:buNone/>
            </a:pPr>
            <a:r>
              <a:rPr lang="en-IN" dirty="0"/>
              <a:t>      Kumari Nidhi Pandey   </a:t>
            </a:r>
          </a:p>
          <a:p>
            <a:pPr marL="0" indent="0" algn="ctr">
              <a:buNone/>
            </a:pPr>
            <a:r>
              <a:rPr lang="en-IN" dirty="0"/>
              <a:t>   </a:t>
            </a:r>
            <a:r>
              <a:rPr lang="en-IN" dirty="0" err="1"/>
              <a:t>Bluestock</a:t>
            </a:r>
            <a:r>
              <a:rPr lang="en-IN" dirty="0"/>
              <a:t> Fintech Internship   </a:t>
            </a:r>
          </a:p>
          <a:p>
            <a:pPr marL="0" indent="0" algn="ctr">
              <a:buNone/>
            </a:pPr>
            <a:r>
              <a:rPr lang="en-IN" dirty="0"/>
              <a:t>     June 2026</a:t>
            </a:r>
          </a:p>
        </p:txBody>
      </p:sp>
    </p:spTree>
    <p:extLst>
      <p:ext uri="{BB962C8B-B14F-4D97-AF65-F5344CB8AC3E}">
        <p14:creationId xmlns:p14="http://schemas.microsoft.com/office/powerpoint/2010/main" val="134637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454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 </vt:lpstr>
      <vt:lpstr>The Challenge</vt:lpstr>
      <vt:lpstr>Project  Methdology &amp; Workflow</vt:lpstr>
      <vt:lpstr>Data Collection &amp; Dataset Overview</vt:lpstr>
      <vt:lpstr>Data Cleaning &amp; EDA</vt:lpstr>
      <vt:lpstr>Performance Analytics</vt:lpstr>
      <vt:lpstr>Risk Analysis (VaR &amp; CVaR)</vt:lpstr>
      <vt:lpstr>Tableau Dashboard &amp; Visualization</vt:lpstr>
      <vt:lpstr>Key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Pandey</dc:creator>
  <cp:lastModifiedBy>Nidhi Pandey</cp:lastModifiedBy>
  <cp:revision>2</cp:revision>
  <dcterms:created xsi:type="dcterms:W3CDTF">2026-06-14T18:45:39Z</dcterms:created>
  <dcterms:modified xsi:type="dcterms:W3CDTF">2026-06-15T03:46:06Z</dcterms:modified>
</cp:coreProperties>
</file>